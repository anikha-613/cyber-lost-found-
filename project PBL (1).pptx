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7"/>
  </p:notesMasterIdLst>
  <p:handoutMasterIdLst>
    <p:handoutMasterId r:id="rId28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9" r:id="rId13"/>
    <p:sldId id="350" r:id="rId14"/>
    <p:sldId id="351" r:id="rId15"/>
    <p:sldId id="352" r:id="rId16"/>
    <p:sldId id="346" r:id="rId17"/>
    <p:sldId id="353" r:id="rId18"/>
    <p:sldId id="354" r:id="rId19"/>
    <p:sldId id="355" r:id="rId20"/>
    <p:sldId id="356" r:id="rId21"/>
    <p:sldId id="357" r:id="rId22"/>
    <p:sldId id="340" r:id="rId23"/>
    <p:sldId id="347" r:id="rId24"/>
    <p:sldId id="348" r:id="rId25"/>
    <p:sldId id="33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74" d="100"/>
          <a:sy n="74" d="100"/>
        </p:scale>
        <p:origin x="2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10-03-2026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10-03-2026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i="1" dirty="0">
                <a:latin typeface="Broadway" panose="04040905080B02020502" pitchFamily="82" charset="0"/>
              </a:rPr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85000" lnSpcReduction="10000"/>
          </a:bodyPr>
          <a:lstStyle/>
          <a:p>
            <a:r>
              <a:rPr lang="en-IN" dirty="0">
                <a:latin typeface="Sitka Text Semibold" pitchFamily="2" charset="0"/>
              </a:rPr>
              <a:t>Use 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Sitka Text Semibold" pitchFamily="2" charset="0"/>
              </a:rPr>
              <a:t>Times New Roman </a:t>
            </a:r>
            <a:r>
              <a:rPr lang="en-IN" dirty="0">
                <a:latin typeface="Sitka Text Semibold" pitchFamily="2" charset="0"/>
              </a:rPr>
              <a:t>(body)</a:t>
            </a:r>
          </a:p>
          <a:p>
            <a:r>
              <a:rPr lang="en-IN" dirty="0">
                <a:latin typeface="Sitka Text Semibold" pitchFamily="2" charset="0"/>
              </a:rPr>
              <a:t>Do not change the Template: Heading / Title of the slides</a:t>
            </a:r>
          </a:p>
          <a:p>
            <a:r>
              <a:rPr lang="en-IN" dirty="0">
                <a:latin typeface="Sitka Text Semibold" pitchFamily="2" charset="0"/>
              </a:rPr>
              <a:t>Do not change font style or colours</a:t>
            </a:r>
          </a:p>
          <a:p>
            <a:r>
              <a:rPr lang="en-IN" dirty="0">
                <a:latin typeface="Sitka Text Semibold" pitchFamily="2" charset="0"/>
              </a:rPr>
              <a:t>Do not copy paste paragraphs: use only Bullet Points</a:t>
            </a:r>
          </a:p>
          <a:p>
            <a:r>
              <a:rPr lang="en-IN" dirty="0">
                <a:latin typeface="Sitka Text Semibold" pitchFamily="2" charset="0"/>
              </a:rPr>
              <a:t>Maximum slide Limit is 20 only</a:t>
            </a:r>
          </a:p>
          <a:p>
            <a:r>
              <a:rPr lang="en-IN" dirty="0">
                <a:latin typeface="Sitka Text Semibold" pitchFamily="2" charset="0"/>
              </a:rPr>
              <a:t>As per the number of supervisor allotted adopt slide-2 or slide-3</a:t>
            </a:r>
          </a:p>
          <a:p>
            <a:r>
              <a:rPr lang="en-IN" dirty="0">
                <a:latin typeface="Sitka Text Semibold" pitchFamily="2" charset="0"/>
              </a:rPr>
              <a:t>Please display the required meaningful Content or images or tables </a:t>
            </a:r>
          </a:p>
          <a:p>
            <a:r>
              <a:rPr lang="en-IN" dirty="0">
                <a:latin typeface="Sitka Text Semibold" pitchFamily="2" charset="0"/>
              </a:rPr>
              <a:t>Change the footer accordingly using insert tab then click on header &amp; footer tab and edit it</a:t>
            </a:r>
          </a:p>
          <a:p>
            <a:r>
              <a:rPr lang="en-IN" dirty="0">
                <a:latin typeface="Sitka Text Semibold" pitchFamily="2" charset="0"/>
              </a:rPr>
              <a:t>Save the PPT with Register No, Dept and Review no,  example: </a:t>
            </a:r>
            <a:r>
              <a:rPr lang="en-US" dirty="0">
                <a:latin typeface="Sitka Text Semibold" pitchFamily="2" charset="0"/>
              </a:rPr>
              <a:t>23xxxxxxxxx_CSE</a:t>
            </a:r>
            <a:endParaRPr lang="en-IN" dirty="0">
              <a:latin typeface="Sitka Text Semibold" pitchFamily="2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i="1" dirty="0">
                <a:solidFill>
                  <a:srgbClr val="0070C0"/>
                </a:solidFill>
                <a:latin typeface="Broadway" panose="04040905080B02020502" pitchFamily="82" charset="0"/>
                <a:cs typeface="Arial" panose="020B0604020202020204" pitchFamily="34" charset="0"/>
              </a:rPr>
              <a:t>Title: Optimized Pharmacy Stock Management System</a:t>
            </a:r>
            <a:endParaRPr lang="en-US" sz="2400" i="1" dirty="0">
              <a:solidFill>
                <a:srgbClr val="FF0000"/>
              </a:solidFill>
              <a:latin typeface="Broadway" panose="04040905080B02020502" pitchFamily="8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>
                <a:latin typeface="Sitka Text Semibold" pitchFamily="2" charset="0"/>
              </a:rPr>
              <a:t>Student Name: </a:t>
            </a:r>
            <a:r>
              <a:rPr lang="en-US" sz="15200" b="1" dirty="0">
                <a:latin typeface="Edwardian Script ITC" panose="030303020407070D0804" pitchFamily="66" charset="0"/>
              </a:rPr>
              <a:t>Anikha Padala</a:t>
            </a:r>
          </a:p>
          <a:p>
            <a:pPr marL="0" indent="0" algn="ctr">
              <a:buNone/>
            </a:pPr>
            <a:r>
              <a:rPr lang="en-US" sz="9600" dirty="0">
                <a:latin typeface="Sitka Text Semibold" pitchFamily="2" charset="0"/>
              </a:rPr>
              <a:t>Student ID: </a:t>
            </a:r>
            <a:r>
              <a:rPr lang="en-US" sz="15200" b="1" dirty="0">
                <a:latin typeface="Edwardian Script ITC" panose="030303020407070D0804" pitchFamily="66" charset="0"/>
              </a:rPr>
              <a:t>2520030613</a:t>
            </a:r>
          </a:p>
          <a:p>
            <a:pPr marL="0" indent="0" algn="ctr">
              <a:buNone/>
            </a:pPr>
            <a:r>
              <a:rPr lang="en-US" sz="9600" dirty="0">
                <a:latin typeface="Sitka Text Semibold" pitchFamily="2" charset="0"/>
              </a:rPr>
              <a:t>Cluster</a:t>
            </a:r>
            <a:r>
              <a:rPr lang="en-US" sz="11200" dirty="0">
                <a:latin typeface="Sitka Text Semibold" pitchFamily="2" charset="0"/>
              </a:rPr>
              <a:t>:</a:t>
            </a:r>
            <a:r>
              <a:rPr lang="en-US" sz="15200" b="1" dirty="0">
                <a:latin typeface="Edwardian Script ITC" panose="030303020407070D0804" pitchFamily="66" charset="0"/>
              </a:rPr>
              <a:t>3</a:t>
            </a:r>
          </a:p>
          <a:p>
            <a:pPr marL="0" indent="0" algn="ctr">
              <a:buNone/>
            </a:pPr>
            <a:r>
              <a:rPr lang="en-US" sz="9600" dirty="0">
                <a:latin typeface="Sitka Text Semibold" pitchFamily="2" charset="0"/>
              </a:rPr>
              <a:t>Section</a:t>
            </a:r>
            <a:r>
              <a:rPr lang="en-US" sz="11200" dirty="0">
                <a:latin typeface="Sitka Text Semibold" pitchFamily="2" charset="0"/>
              </a:rPr>
              <a:t>:</a:t>
            </a:r>
            <a:r>
              <a:rPr lang="en-US" sz="11200" dirty="0"/>
              <a:t> </a:t>
            </a:r>
            <a:r>
              <a:rPr lang="en-US" sz="15200" dirty="0">
                <a:latin typeface="Edwardian Script ITC" panose="030303020407070D0804" pitchFamily="66" charset="0"/>
              </a:rPr>
              <a:t>10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10-03-2026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008" y="5425372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i="1" dirty="0">
                <a:latin typeface="Broadway" panose="04040905080B02020502" pitchFamily="82" charset="0"/>
              </a:rPr>
              <a:t>Under the Guidance </a:t>
            </a:r>
          </a:p>
          <a:p>
            <a:pPr marL="0" indent="0" algn="ctr">
              <a:buNone/>
            </a:pPr>
            <a:r>
              <a:rPr lang="en-US" sz="8600" i="1" dirty="0">
                <a:latin typeface="Broadway" panose="04040905080B02020502" pitchFamily="82" charset="0"/>
              </a:rPr>
              <a:t>of </a:t>
            </a:r>
            <a:endParaRPr lang="en-US" sz="8600" i="1" dirty="0">
              <a:solidFill>
                <a:srgbClr val="00B050"/>
              </a:solidFill>
              <a:latin typeface="Broadway" panose="04040905080B02020502" pitchFamily="82" charset="0"/>
            </a:endParaRPr>
          </a:p>
          <a:p>
            <a:pPr marL="0" indent="0" algn="ctr">
              <a:buNone/>
            </a:pPr>
            <a:r>
              <a:rPr lang="en-US" sz="9600" dirty="0">
                <a:solidFill>
                  <a:srgbClr val="00B050"/>
                </a:solidFill>
                <a:latin typeface="Sitka Text Semibold" pitchFamily="2" charset="0"/>
              </a:rPr>
              <a:t>Supervisor Name: </a:t>
            </a:r>
            <a:r>
              <a:rPr lang="en-US" sz="15200" b="1" dirty="0">
                <a:solidFill>
                  <a:srgbClr val="00B050"/>
                </a:solidFill>
                <a:latin typeface="Edwardian Script ITC" panose="030303020407070D0804" pitchFamily="66" charset="0"/>
              </a:rPr>
              <a:t>Dr. </a:t>
            </a:r>
            <a:r>
              <a:rPr lang="en-US" sz="15200" b="1" dirty="0" err="1">
                <a:solidFill>
                  <a:srgbClr val="00B050"/>
                </a:solidFill>
                <a:latin typeface="Edwardian Script ITC" panose="030303020407070D0804" pitchFamily="66" charset="0"/>
              </a:rPr>
              <a:t>Jayaram</a:t>
            </a:r>
            <a:r>
              <a:rPr lang="en-US" sz="15200" b="1" dirty="0">
                <a:solidFill>
                  <a:srgbClr val="00B050"/>
                </a:solidFill>
                <a:latin typeface="Edwardian Script ITC" panose="030303020407070D0804" pitchFamily="66" charset="0"/>
              </a:rPr>
              <a:t> </a:t>
            </a:r>
            <a:r>
              <a:rPr lang="en-US" sz="15200" b="1" dirty="0" err="1">
                <a:solidFill>
                  <a:srgbClr val="00B050"/>
                </a:solidFill>
                <a:latin typeface="Edwardian Script ITC" panose="030303020407070D0804" pitchFamily="66" charset="0"/>
              </a:rPr>
              <a:t>Boga</a:t>
            </a:r>
            <a:endParaRPr lang="en-US" sz="15200" b="1" dirty="0">
              <a:solidFill>
                <a:srgbClr val="00B050"/>
              </a:solidFill>
              <a:latin typeface="Edwardian Script ITC" panose="030303020407070D0804" pitchFamily="66" charset="0"/>
            </a:endParaRPr>
          </a:p>
          <a:p>
            <a:pPr marL="0" indent="0" algn="ctr">
              <a:buNone/>
            </a:pPr>
            <a:r>
              <a:rPr lang="en-US" sz="9600" dirty="0">
                <a:solidFill>
                  <a:srgbClr val="00B050"/>
                </a:solidFill>
                <a:latin typeface="Sitka Text Semibold" pitchFamily="2" charset="0"/>
              </a:rPr>
              <a:t>Assistant Professor</a:t>
            </a:r>
          </a:p>
          <a:p>
            <a:pPr marL="0" indent="0" algn="ctr">
              <a:buNone/>
            </a:pPr>
            <a:r>
              <a:rPr lang="en-US" sz="9600" dirty="0">
                <a:solidFill>
                  <a:srgbClr val="00B050"/>
                </a:solidFill>
                <a:latin typeface="Sitka Text Semibold" pitchFamily="2" charset="0"/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156233"/>
            <a:ext cx="10173182" cy="1049607"/>
          </a:xfrm>
        </p:spPr>
        <p:txBody>
          <a:bodyPr>
            <a:normAutofit/>
          </a:bodyPr>
          <a:lstStyle/>
          <a:p>
            <a:pPr algn="ctr"/>
            <a:r>
              <a:rPr lang="en-US" sz="4800" b="1" i="1" dirty="0">
                <a:latin typeface="Broadway" panose="04040905080B02020502" pitchFamily="82" charset="0"/>
              </a:rPr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2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8000" dirty="0">
                <a:latin typeface="Sitka Text Semibold" pitchFamily="2" charset="0"/>
              </a:rPr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8000" dirty="0">
                <a:latin typeface="Sitka Text Semibold" pitchFamily="2" charset="0"/>
              </a:rPr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8000" dirty="0">
                <a:latin typeface="Sitka Text Semibold" pitchFamily="2" charset="0"/>
              </a:rPr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8000" dirty="0">
                <a:latin typeface="Sitka Text Semibold" pitchFamily="2" charset="0"/>
              </a:rPr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8000" dirty="0">
                <a:latin typeface="Sitka Text Semibold" pitchFamily="2" charset="0"/>
              </a:rPr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8000" dirty="0">
                <a:latin typeface="Sitka Text Semibold" pitchFamily="2" charset="0"/>
              </a:rPr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8000" dirty="0">
                <a:latin typeface="Sitka Text Semibold" pitchFamily="2" charset="0"/>
              </a:rPr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8000" dirty="0">
                <a:latin typeface="Sitka Text Semibold" pitchFamily="2" charset="0"/>
              </a:rPr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8000" dirty="0">
                <a:latin typeface="Sitka Text Semibold" pitchFamily="2" charset="0"/>
              </a:rPr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8000" dirty="0">
                <a:latin typeface="Sitka Text Semibold" pitchFamily="2" charset="0"/>
              </a:rPr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8000" dirty="0">
                <a:latin typeface="Sitka Text Semibold" pitchFamily="2" charset="0"/>
              </a:rPr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8000" dirty="0">
                <a:latin typeface="Sitka Text Semibold" pitchFamily="2" charset="0"/>
              </a:rPr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8000" dirty="0">
                <a:latin typeface="Sitka Text Semibold" pitchFamily="2" charset="0"/>
              </a:rPr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8000" dirty="0">
                <a:latin typeface="Sitka Text Semibold" pitchFamily="2" charset="0"/>
              </a:rPr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8000" dirty="0">
                <a:latin typeface="Sitka Text Semibold" pitchFamily="2" charset="0"/>
              </a:rPr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60" y="292697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sz="4800" b="1" i="1" dirty="0">
                <a:latin typeface="Broadway" panose="04040905080B02020502" pitchFamily="82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826" y="1330859"/>
            <a:ext cx="10478631" cy="4927585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Sitka Text Semibold" pitchFamily="2" charset="0"/>
              </a:rPr>
              <a:t>Web-based platform to help users recover lost digital accounts.</a:t>
            </a:r>
          </a:p>
          <a:p>
            <a:pPr algn="just"/>
            <a:r>
              <a:rPr lang="en-US" dirty="0">
                <a:latin typeface="Sitka Text Semibold" pitchFamily="2" charset="0"/>
              </a:rPr>
              <a:t>Users can submit recovery requests with verification details.</a:t>
            </a:r>
          </a:p>
          <a:p>
            <a:pPr algn="just"/>
            <a:r>
              <a:rPr lang="en-US" dirty="0">
                <a:latin typeface="Sitka Text Semibold" pitchFamily="2" charset="0"/>
              </a:rPr>
              <a:t>Admin reviews and manages requests through a control panel.</a:t>
            </a:r>
          </a:p>
          <a:p>
            <a:pPr algn="just"/>
            <a:r>
              <a:rPr lang="en-US" dirty="0">
                <a:latin typeface="Sitka Text Semibold" pitchFamily="2" charset="0"/>
              </a:rPr>
              <a:t>Reduces manual effort and organizes recovery processes.</a:t>
            </a:r>
          </a:p>
          <a:p>
            <a:pPr algn="just"/>
            <a:r>
              <a:rPr lang="en-US" dirty="0">
                <a:latin typeface="Sitka Text Semibold" pitchFamily="2" charset="0"/>
              </a:rPr>
              <a:t>Improves security and transparency in account recovery.</a:t>
            </a:r>
          </a:p>
          <a:p>
            <a:pPr algn="just"/>
            <a:r>
              <a:rPr lang="en-US" dirty="0">
                <a:latin typeface="Sitka Text Semibold" pitchFamily="2" charset="0"/>
              </a:rPr>
              <a:t>Built using HTML, CSS, JavaScript, and database support.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4" y="351085"/>
            <a:ext cx="10173182" cy="1128009"/>
          </a:xfrm>
        </p:spPr>
        <p:txBody>
          <a:bodyPr/>
          <a:lstStyle/>
          <a:p>
            <a:pPr algn="ctr"/>
            <a:r>
              <a:rPr lang="en-US" b="1" i="1" dirty="0">
                <a:latin typeface="Broadway" panose="04040905080B02020502" pitchFamily="82" charset="0"/>
              </a:rPr>
              <a:t>Existing System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D0420-80F7-A53C-65D3-9B8C71A8A6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7742" y="1371729"/>
            <a:ext cx="1071651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Users must rely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different recovery methods for each platform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, which can be confusing and time-consuming.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Many account recovery processes require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manual verification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, causing delays.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Users often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forget recovery emails, phone numbers, or security answers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, making recovery difficult.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There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no centralized platform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to manage or track digital account recovery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Recovery processes can sometimes be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complex and stressful for users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who are not technically experienced.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Lack of proper tracking leads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slow response time and poor communication during recovery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79" y="314631"/>
            <a:ext cx="10173182" cy="1128009"/>
          </a:xfrm>
        </p:spPr>
        <p:txBody>
          <a:bodyPr/>
          <a:lstStyle/>
          <a:p>
            <a:pPr algn="ctr"/>
            <a:r>
              <a:rPr lang="en-US" b="1" i="1" dirty="0">
                <a:latin typeface="Broadway" panose="04040905080B02020502" pitchFamily="82" charset="0"/>
              </a:rPr>
              <a:t>Proposed System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46786-7114-B4B1-948E-C25C59D244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3495" y="1336706"/>
            <a:ext cx="1117772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The system provides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centralized platform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for submitting digital account recovery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Users can easily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submit account details and verification information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through an online 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admin dashboard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allows administrators to review and manage recovery requests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The system helps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organize and track recovery cases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in a structured manner.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It reduces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manual workload and simplifies the recovery process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for both users and administrators.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The platform improves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security, transparency, and response 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in handling digital account recovery.</a:t>
            </a:r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09" y="314478"/>
            <a:ext cx="10173182" cy="1128009"/>
          </a:xfrm>
        </p:spPr>
        <p:txBody>
          <a:bodyPr/>
          <a:lstStyle/>
          <a:p>
            <a:pPr algn="ctr"/>
            <a:r>
              <a:rPr lang="en-US" b="1" i="1" dirty="0">
                <a:latin typeface="Broadway" panose="04040905080B02020502" pitchFamily="82" charset="0"/>
              </a:rPr>
              <a:t>System 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2" name="AutoShape 2" descr="Generated image"/>
          <p:cNvSpPr>
            <a:spLocks noChangeAspect="1" noChangeArrowheads="1"/>
          </p:cNvSpPr>
          <p:nvPr/>
        </p:nvSpPr>
        <p:spPr bwMode="auto">
          <a:xfrm>
            <a:off x="4347329" y="325964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6" descr="Gener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7922C22-E0A7-DDDD-60C7-592AAEC9E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5366" y="1444893"/>
            <a:ext cx="28012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73182" cy="1128009"/>
          </a:xfrm>
        </p:spPr>
        <p:txBody>
          <a:bodyPr/>
          <a:lstStyle/>
          <a:p>
            <a:pPr algn="ctr"/>
            <a:r>
              <a:rPr lang="en-US" i="1" dirty="0">
                <a:latin typeface="Broadway" panose="04040905080B02020502" pitchFamily="82" charset="0"/>
              </a:rPr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9913"/>
            <a:ext cx="10655929" cy="483705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Sitka Text Semibold" pitchFamily="2" charset="0"/>
              </a:rPr>
              <a:t>The </a:t>
            </a:r>
            <a:r>
              <a:rPr lang="en-US" sz="2400" b="1" dirty="0">
                <a:latin typeface="Sitka Text Semibold" pitchFamily="2" charset="0"/>
              </a:rPr>
              <a:t>User Authentication Module</a:t>
            </a:r>
            <a:r>
              <a:rPr lang="en-US" sz="2400" dirty="0">
                <a:latin typeface="Sitka Text Semibold" pitchFamily="2" charset="0"/>
              </a:rPr>
              <a:t> allows users to register and log into the system securely.</a:t>
            </a:r>
          </a:p>
          <a:p>
            <a:r>
              <a:rPr lang="en-US" sz="2400" dirty="0">
                <a:latin typeface="Sitka Text Semibold" pitchFamily="2" charset="0"/>
              </a:rPr>
              <a:t>• The </a:t>
            </a:r>
            <a:r>
              <a:rPr lang="en-US" sz="2400" b="1" dirty="0">
                <a:latin typeface="Sitka Text Semibold" pitchFamily="2" charset="0"/>
              </a:rPr>
              <a:t>Recovery Request Module</a:t>
            </a:r>
            <a:r>
              <a:rPr lang="en-US" sz="2400" dirty="0">
                <a:latin typeface="Sitka Text Semibold" pitchFamily="2" charset="0"/>
              </a:rPr>
              <a:t> enables users to submit requests for recovering lost or inaccessible digital accounts.</a:t>
            </a:r>
          </a:p>
          <a:p>
            <a:r>
              <a:rPr lang="en-US" sz="2400" dirty="0">
                <a:latin typeface="Sitka Text Semibold" pitchFamily="2" charset="0"/>
              </a:rPr>
              <a:t>• The </a:t>
            </a:r>
            <a:r>
              <a:rPr lang="en-US" sz="2400" b="1" dirty="0">
                <a:latin typeface="Sitka Text Semibold" pitchFamily="2" charset="0"/>
              </a:rPr>
              <a:t>Account Verification Module</a:t>
            </a:r>
            <a:r>
              <a:rPr lang="en-US" sz="2400" dirty="0">
                <a:latin typeface="Sitka Text Semibold" pitchFamily="2" charset="0"/>
              </a:rPr>
              <a:t> verifies user identity using details such as email, phone number, or supporting documents.</a:t>
            </a:r>
          </a:p>
          <a:p>
            <a:r>
              <a:rPr lang="en-US" sz="2400" dirty="0">
                <a:latin typeface="Sitka Text Semibold" pitchFamily="2" charset="0"/>
              </a:rPr>
              <a:t>• The </a:t>
            </a:r>
            <a:r>
              <a:rPr lang="en-US" sz="2400" b="1" dirty="0">
                <a:latin typeface="Sitka Text Semibold" pitchFamily="2" charset="0"/>
              </a:rPr>
              <a:t>Admin Management Module</a:t>
            </a:r>
            <a:r>
              <a:rPr lang="en-US" sz="2400" dirty="0">
                <a:latin typeface="Sitka Text Semibold" pitchFamily="2" charset="0"/>
              </a:rPr>
              <a:t> allows administrators to review, approve, or reject recovery requests.</a:t>
            </a:r>
          </a:p>
          <a:p>
            <a:r>
              <a:rPr lang="en-US" sz="2400" dirty="0">
                <a:latin typeface="Sitka Text Semibold" pitchFamily="2" charset="0"/>
              </a:rPr>
              <a:t>• The </a:t>
            </a:r>
            <a:r>
              <a:rPr lang="en-US" sz="2400" b="1" dirty="0">
                <a:latin typeface="Sitka Text Semibold" pitchFamily="2" charset="0"/>
              </a:rPr>
              <a:t>Request Tracking Module</a:t>
            </a:r>
            <a:r>
              <a:rPr lang="en-US" sz="2400" dirty="0">
                <a:latin typeface="Sitka Text Semibold" pitchFamily="2" charset="0"/>
              </a:rPr>
              <a:t> helps users check the status of their recovery requests.</a:t>
            </a:r>
          </a:p>
          <a:p>
            <a:r>
              <a:rPr lang="en-US" sz="2400" dirty="0">
                <a:latin typeface="Sitka Text Semibold" pitchFamily="2" charset="0"/>
              </a:rPr>
              <a:t>• The </a:t>
            </a:r>
            <a:r>
              <a:rPr lang="en-US" sz="2400" b="1" dirty="0">
                <a:latin typeface="Sitka Text Semibold" pitchFamily="2" charset="0"/>
              </a:rPr>
              <a:t>Database Module</a:t>
            </a:r>
            <a:r>
              <a:rPr lang="en-US" sz="2400" dirty="0">
                <a:latin typeface="Sitka Text Semibold" pitchFamily="2" charset="0"/>
              </a:rPr>
              <a:t> securely stores user details, recovery requests, and verification information.</a:t>
            </a:r>
          </a:p>
          <a:p>
            <a:endParaRPr lang="en-US" sz="2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684" y="354177"/>
            <a:ext cx="10173182" cy="1128009"/>
          </a:xfrm>
        </p:spPr>
        <p:txBody>
          <a:bodyPr/>
          <a:lstStyle/>
          <a:p>
            <a:pPr algn="ctr"/>
            <a:r>
              <a:rPr lang="en-US" i="1" dirty="0">
                <a:latin typeface="Broadway" panose="04040905080B02020502" pitchFamily="82" charset="0"/>
              </a:rPr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1552738" y="1276107"/>
            <a:ext cx="9226128" cy="4722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Sitka Text Semibold" pitchFamily="2" charset="0"/>
              </a:rPr>
              <a:t>To develop a </a:t>
            </a:r>
            <a:r>
              <a:rPr lang="en-US" sz="2400" b="1" dirty="0">
                <a:latin typeface="Sitka Text Semibold" pitchFamily="2" charset="0"/>
              </a:rPr>
              <a:t>web-based platform</a:t>
            </a:r>
            <a:r>
              <a:rPr lang="en-US" sz="2400" dirty="0">
                <a:latin typeface="Sitka Text Semibold" pitchFamily="2" charset="0"/>
              </a:rPr>
              <a:t> that helps users recover lost or inaccessible digital accounts.</a:t>
            </a:r>
          </a:p>
          <a:p>
            <a:r>
              <a:rPr lang="en-US" sz="2400" dirty="0">
                <a:latin typeface="Sitka Text Semibold" pitchFamily="2" charset="0"/>
              </a:rPr>
              <a:t>To provide a </a:t>
            </a:r>
            <a:r>
              <a:rPr lang="en-US" sz="2400" b="1" dirty="0">
                <a:latin typeface="Sitka Text Semibold" pitchFamily="2" charset="0"/>
              </a:rPr>
              <a:t>secure login and registration system</a:t>
            </a:r>
            <a:r>
              <a:rPr lang="en-US" sz="2400" dirty="0">
                <a:latin typeface="Sitka Text Semibold" pitchFamily="2" charset="0"/>
              </a:rPr>
              <a:t> for users and administrators.</a:t>
            </a:r>
          </a:p>
          <a:p>
            <a:r>
              <a:rPr lang="en-US" sz="2400" dirty="0">
                <a:latin typeface="Sitka Text Semibold" pitchFamily="2" charset="0"/>
              </a:rPr>
              <a:t>To allow users to </a:t>
            </a:r>
            <a:r>
              <a:rPr lang="en-US" sz="2400" b="1" dirty="0">
                <a:latin typeface="Sitka Text Semibold" pitchFamily="2" charset="0"/>
              </a:rPr>
              <a:t>submit digital account recovery requests</a:t>
            </a:r>
            <a:r>
              <a:rPr lang="en-US" sz="2400" dirty="0">
                <a:latin typeface="Sitka Text Semibold" pitchFamily="2" charset="0"/>
              </a:rPr>
              <a:t> with necessary verification details.</a:t>
            </a:r>
          </a:p>
          <a:p>
            <a:r>
              <a:rPr lang="en-US" sz="2400" dirty="0">
                <a:latin typeface="Sitka Text Semibold" pitchFamily="2" charset="0"/>
              </a:rPr>
              <a:t>To enable administrators to </a:t>
            </a:r>
            <a:r>
              <a:rPr lang="en-US" sz="2400" b="1" dirty="0">
                <a:latin typeface="Sitka Text Semibold" pitchFamily="2" charset="0"/>
              </a:rPr>
              <a:t>review, verify, and manage recovery requests efficiently</a:t>
            </a:r>
            <a:r>
              <a:rPr lang="en-US" sz="2400" dirty="0">
                <a:latin typeface="Sitka Text Semibold" pitchFamily="2" charset="0"/>
              </a:rPr>
              <a:t>.</a:t>
            </a:r>
          </a:p>
          <a:p>
            <a:r>
              <a:rPr lang="en-US" sz="2400" dirty="0">
                <a:latin typeface="Sitka Text Semibold" pitchFamily="2" charset="0"/>
              </a:rPr>
              <a:t>To provide </a:t>
            </a:r>
            <a:r>
              <a:rPr lang="en-US" sz="2400" b="1" dirty="0">
                <a:latin typeface="Sitka Text Semibold" pitchFamily="2" charset="0"/>
              </a:rPr>
              <a:t>request tracking</a:t>
            </a:r>
            <a:r>
              <a:rPr lang="en-US" sz="2400" dirty="0">
                <a:latin typeface="Sitka Text Semibold" pitchFamily="2" charset="0"/>
              </a:rPr>
              <a:t> so users can check the status of their recovery requests.</a:t>
            </a:r>
          </a:p>
          <a:p>
            <a:r>
              <a:rPr lang="en-US" sz="2400" dirty="0">
                <a:latin typeface="Sitka Text Semibold" pitchFamily="2" charset="0"/>
              </a:rPr>
              <a:t>To ensure </a:t>
            </a:r>
            <a:r>
              <a:rPr lang="en-US" sz="2400" b="1" dirty="0">
                <a:latin typeface="Sitka Text Semibold" pitchFamily="2" charset="0"/>
              </a:rPr>
              <a:t>secure storage and management of user data</a:t>
            </a:r>
            <a:r>
              <a:rPr lang="en-US" sz="2400" dirty="0">
                <a:latin typeface="Sitka Text Semibold" pitchFamily="2" charset="0"/>
              </a:rPr>
              <a:t> through a centralized database.</a:t>
            </a: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i="1" dirty="0">
                <a:latin typeface="Broadway" panose="04040905080B02020502" pitchFamily="82" charset="0"/>
              </a:rPr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IN" sz="2800" b="1" dirty="0">
                <a:latin typeface="Edwardian Script ITC" panose="030303020407070D0804" pitchFamily="66" charset="0"/>
              </a:rPr>
              <a:t>1.  CO 1-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058675"/>
              </p:ext>
            </p:extLst>
          </p:nvPr>
        </p:nvGraphicFramePr>
        <p:xfrm>
          <a:off x="1208533" y="2513810"/>
          <a:ext cx="10515600" cy="2316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Broadway" panose="04040905080B02020502" pitchFamily="82" charset="0"/>
                        </a:rPr>
                        <a:t>CO1 Syllabus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Broadway" panose="04040905080B02020502" pitchFamily="82" charset="0"/>
                        </a:rPr>
                        <a:t>CO1 Concepts Included in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Designing structured web pages using HTML elements and forms.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Creating layouts using headings, inputs, buttons, and containers.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Developing user interface components for web applications.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Developed Login, Registration, Admin Dashboard, and Store pages using HTML. • Used input fields, select dropdowns, buttons, and forms for user interaction. • Organized content using div containers and layout structures.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 err="1">
                <a:latin typeface="Broadway" panose="04040905080B02020502" pitchFamily="82" charset="0"/>
              </a:rPr>
              <a:t>Co’s</a:t>
            </a:r>
            <a:r>
              <a:rPr lang="en-US" i="1" dirty="0">
                <a:latin typeface="Broadway" panose="04040905080B02020502" pitchFamily="82" charset="0"/>
              </a:rPr>
              <a:t> Attainments - FWD</a:t>
            </a:r>
            <a:endParaRPr lang="en-IN" i="1" dirty="0">
              <a:latin typeface="Broadway" panose="04040905080B020205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IN" sz="2800" b="1" dirty="0">
                <a:latin typeface="Edwardian Script ITC" panose="030303020407070D0804" pitchFamily="66" charset="0"/>
              </a:rPr>
              <a:t>2.  CO 2-</a:t>
            </a:r>
            <a:br>
              <a:rPr lang="en-IN" sz="2800" i="1" dirty="0">
                <a:latin typeface="Edwardian Script ITC" panose="030303020407070D0804" pitchFamily="66" charset="0"/>
              </a:rPr>
            </a:br>
            <a:endParaRPr lang="en-IN" sz="2800" i="1" dirty="0">
              <a:latin typeface="Edwardian Script ITC" panose="030303020407070D0804" pitchFamily="66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8492"/>
              </p:ext>
            </p:extLst>
          </p:nvPr>
        </p:nvGraphicFramePr>
        <p:xfrm>
          <a:off x="1182232" y="2626525"/>
          <a:ext cx="10515600" cy="23164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Broadway" panose="04040905080B02020502" pitchFamily="82" charset="0"/>
                        </a:rPr>
                        <a:t>CO2 Syllabus</a:t>
                      </a:r>
                      <a:endParaRPr lang="en-IN" sz="2000" dirty="0">
                        <a:latin typeface="Broadway" panose="04040905080B02020502" pitchFamily="8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Broadway" panose="04040905080B02020502" pitchFamily="82" charset="0"/>
                        </a:rPr>
                        <a:t>CO2 Concepts Included in Project</a:t>
                      </a:r>
                      <a:endParaRPr lang="en-US" sz="2000" dirty="0">
                        <a:latin typeface="Broadway" panose="04040905080B02020502" pitchFamily="8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Applying CSS for styling and layout design.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Using colors, typography, and visual effects.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Designing responsive and attractive user interfaces.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Implemented gradient backgrounds and modern UI design.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Used CSS variables, hover effects, shadows, and border radius.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Designed medicine cards, admin dashboard grid, and styled buttons.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169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 err="1">
                <a:latin typeface="Broadway" panose="04040905080B02020502" pitchFamily="82" charset="0"/>
              </a:rPr>
              <a:t>Co’s</a:t>
            </a:r>
            <a:r>
              <a:rPr lang="en-US" i="1" dirty="0">
                <a:latin typeface="Broadway" panose="04040905080B02020502" pitchFamily="82" charset="0"/>
              </a:rPr>
              <a:t> Attainments - FWD</a:t>
            </a:r>
            <a:endParaRPr lang="en-IN" i="1" dirty="0">
              <a:latin typeface="Broadway" panose="04040905080B020205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IN" sz="2800" b="1" dirty="0">
                <a:latin typeface="Edwardian Script ITC" panose="030303020407070D0804" pitchFamily="66" charset="0"/>
              </a:rPr>
              <a:t>3.  CO 3-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93194"/>
              </p:ext>
            </p:extLst>
          </p:nvPr>
        </p:nvGraphicFramePr>
        <p:xfrm>
          <a:off x="1182232" y="2626525"/>
          <a:ext cx="10515600" cy="2621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Broadway" panose="04040905080B02020502" pitchFamily="82" charset="0"/>
                        </a:rPr>
                        <a:t>CO3 Syllabus</a:t>
                      </a:r>
                      <a:endParaRPr lang="en-IN" sz="2000" dirty="0">
                        <a:latin typeface="Broadway" panose="04040905080B02020502" pitchFamily="8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Broadway" panose="04040905080B02020502" pitchFamily="82" charset="0"/>
                        </a:rPr>
                        <a:t>CO3 Concepts Included in Project</a:t>
                      </a:r>
                      <a:endParaRPr lang="en-US" sz="2000" dirty="0">
                        <a:latin typeface="Broadway" panose="04040905080B02020502" pitchFamily="8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latin typeface="Sitka Text Semibold" pitchFamily="2" charset="0"/>
                        </a:rPr>
                        <a:t>Implementing client-side scripting using JavaScript.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latin typeface="Sitka Text Semibold" pitchFamily="2" charset="0"/>
                        </a:rPr>
                        <a:t>Writing functions and conditional logic.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latin typeface="Sitka Text Semibold" pitchFamily="2" charset="0"/>
                        </a:rPr>
                        <a:t>Handling user inputs and dynamic webpage behavior.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itka Text Semibold" pitchFamily="2" charset="0"/>
                        </a:rPr>
                        <a:t>•</a:t>
                      </a:r>
                      <a:r>
                        <a:rPr lang="en-US" sz="2000" b="0" dirty="0">
                          <a:latin typeface="Sitka Text Semibold" pitchFamily="2" charset="0"/>
                        </a:rPr>
                        <a:t> Implemented features such as login, registration, and medicine inventory management.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Developed cart operations, checkout process, and order history display.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Used functions like login(), register(), </a:t>
                      </a:r>
                      <a:r>
                        <a:rPr lang="en-US" sz="2000" b="0" dirty="0" err="1">
                          <a:latin typeface="Sitka Text Semibold" pitchFamily="2" charset="0"/>
                        </a:rPr>
                        <a:t>addaccount</a:t>
                      </a:r>
                      <a:r>
                        <a:rPr lang="en-US" sz="2000" b="0" dirty="0">
                          <a:latin typeface="Sitka Text Semibold" pitchFamily="2" charset="0"/>
                        </a:rPr>
                        <a:t>(), </a:t>
                      </a:r>
                      <a:r>
                        <a:rPr lang="en-US" sz="2000" b="0" dirty="0" err="1">
                          <a:latin typeface="Sitka Text Semibold" pitchFamily="2" charset="0"/>
                        </a:rPr>
                        <a:t>recoverpassword</a:t>
                      </a:r>
                      <a:r>
                        <a:rPr lang="en-US" sz="2000" b="0" dirty="0">
                          <a:latin typeface="Sitka Text Semibold" pitchFamily="2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613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 err="1">
                <a:latin typeface="Broadway" panose="04040905080B02020502" pitchFamily="82" charset="0"/>
              </a:rPr>
              <a:t>Co’s</a:t>
            </a:r>
            <a:r>
              <a:rPr lang="en-US" i="1" dirty="0">
                <a:latin typeface="Broadway" panose="04040905080B02020502" pitchFamily="82" charset="0"/>
              </a:rPr>
              <a:t> Attainments - FWD</a:t>
            </a:r>
            <a:endParaRPr lang="en-IN" i="1" dirty="0">
              <a:latin typeface="Broadway" panose="04040905080B020205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sz="2800" b="1" dirty="0">
                <a:latin typeface="Edwardian Script ITC" panose="030303020407070D0804" pitchFamily="66" charset="0"/>
              </a:rPr>
              <a:t>4.  CO 4-</a:t>
            </a:r>
            <a:br>
              <a:rPr lang="en-IN" dirty="0"/>
            </a:b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369009"/>
              </p:ext>
            </p:extLst>
          </p:nvPr>
        </p:nvGraphicFramePr>
        <p:xfrm>
          <a:off x="1182232" y="2626525"/>
          <a:ext cx="10515600" cy="23164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Broadway" panose="04040905080B02020502" pitchFamily="82" charset="0"/>
                        </a:rPr>
                        <a:t>CO4 Syllabus</a:t>
                      </a:r>
                      <a:endParaRPr lang="en-IN" sz="2000" dirty="0">
                        <a:latin typeface="Broadway" panose="04040905080B02020502" pitchFamily="8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Broadway" panose="04040905080B02020502" pitchFamily="82" charset="0"/>
                        </a:rPr>
                        <a:t>CO4 Concepts Included in Project</a:t>
                      </a:r>
                      <a:endParaRPr lang="en-US" sz="2000" dirty="0">
                        <a:latin typeface="Broadway" panose="04040905080B02020502" pitchFamily="8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DOM manipulation and dynamic content updates.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Event handling in web applications.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Updating web page elements without reloading.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Sitka Text Semibold" pitchFamily="2" charset="0"/>
                        </a:rPr>
                        <a:t>• Used </a:t>
                      </a:r>
                      <a:r>
                        <a:rPr lang="en-IN" sz="2000" b="0" dirty="0" err="1">
                          <a:latin typeface="Sitka Text Semibold" pitchFamily="2" charset="0"/>
                        </a:rPr>
                        <a:t>document.getElementById</a:t>
                      </a:r>
                      <a:r>
                        <a:rPr lang="en-IN" sz="2000" b="0" dirty="0">
                          <a:latin typeface="Sitka Text Semibold" pitchFamily="2" charset="0"/>
                        </a:rPr>
                        <a:t>() and </a:t>
                      </a:r>
                      <a:r>
                        <a:rPr lang="en-IN" sz="2000" b="0" dirty="0" err="1">
                          <a:latin typeface="Sitka Text Semibold" pitchFamily="2" charset="0"/>
                        </a:rPr>
                        <a:t>innerHTML</a:t>
                      </a:r>
                      <a:r>
                        <a:rPr lang="en-IN" sz="2000" b="0" dirty="0">
                          <a:latin typeface="Sitka Text Semibold" pitchFamily="2" charset="0"/>
                        </a:rPr>
                        <a:t> for DOM updates. </a:t>
                      </a:r>
                    </a:p>
                    <a:p>
                      <a:r>
                        <a:rPr lang="en-IN" sz="2000" b="0" dirty="0">
                          <a:latin typeface="Sitka Text Semibold" pitchFamily="2" charset="0"/>
                        </a:rPr>
                        <a:t>• Implemented events such as </a:t>
                      </a:r>
                      <a:r>
                        <a:rPr lang="en-IN" sz="2000" b="0" dirty="0" err="1">
                          <a:latin typeface="Sitka Text Semibold" pitchFamily="2" charset="0"/>
                        </a:rPr>
                        <a:t>onclick</a:t>
                      </a:r>
                      <a:r>
                        <a:rPr lang="en-IN" sz="2000" b="0" dirty="0">
                          <a:latin typeface="Sitka Text Semibold" pitchFamily="2" charset="0"/>
                        </a:rPr>
                        <a:t>, </a:t>
                      </a:r>
                      <a:r>
                        <a:rPr lang="en-IN" sz="2000" b="0" dirty="0" err="1">
                          <a:latin typeface="Sitka Text Semibold" pitchFamily="2" charset="0"/>
                        </a:rPr>
                        <a:t>onkeyup</a:t>
                      </a:r>
                      <a:r>
                        <a:rPr lang="en-IN" sz="2000" b="0" dirty="0">
                          <a:latin typeface="Sitka Text Semibold" pitchFamily="2" charset="0"/>
                        </a:rPr>
                        <a:t>, and </a:t>
                      </a:r>
                      <a:r>
                        <a:rPr lang="en-IN" sz="2000" b="0" dirty="0" err="1">
                          <a:latin typeface="Sitka Text Semibold" pitchFamily="2" charset="0"/>
                        </a:rPr>
                        <a:t>onchange</a:t>
                      </a:r>
                      <a:r>
                        <a:rPr lang="en-IN" sz="2000" b="0" dirty="0">
                          <a:latin typeface="Sitka Text Semibold" pitchFamily="2" charset="0"/>
                        </a:rPr>
                        <a:t>.</a:t>
                      </a:r>
                    </a:p>
                    <a:p>
                      <a:r>
                        <a:rPr lang="en-IN" sz="2000" b="0" dirty="0">
                          <a:latin typeface="Sitka Text Semibold" pitchFamily="2" charset="0"/>
                        </a:rPr>
                        <a:t> • Dynamically recover / set password, recovery status, and admin dashboard.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33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 err="1">
                <a:latin typeface="Broadway" panose="04040905080B02020502" pitchFamily="82" charset="0"/>
              </a:rPr>
              <a:t>Co’s</a:t>
            </a:r>
            <a:r>
              <a:rPr lang="en-US" i="1" dirty="0">
                <a:latin typeface="Broadway" panose="04040905080B02020502" pitchFamily="82" charset="0"/>
              </a:rPr>
              <a:t> Attainments - FWD</a:t>
            </a:r>
            <a:endParaRPr lang="en-IN" i="1" dirty="0">
              <a:latin typeface="Broadway" panose="04040905080B020205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sz="2800" b="1" dirty="0">
                <a:latin typeface="Edwardian Script ITC" panose="030303020407070D0804" pitchFamily="66" charset="0"/>
              </a:rPr>
              <a:t>5.  CO 5-</a:t>
            </a:r>
            <a:br>
              <a:rPr lang="en-IN" dirty="0"/>
            </a:b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113743"/>
              </p:ext>
            </p:extLst>
          </p:nvPr>
        </p:nvGraphicFramePr>
        <p:xfrm>
          <a:off x="1182232" y="2626525"/>
          <a:ext cx="10515600" cy="2621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0" i="0" dirty="0">
                          <a:latin typeface="Broadway" panose="04040905080B02020502" pitchFamily="82" charset="0"/>
                        </a:rPr>
                        <a:t>CO5 Syllabus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dirty="0">
                          <a:latin typeface="Broadway" panose="04040905080B02020502" pitchFamily="82" charset="0"/>
                        </a:rPr>
                        <a:t>CO5 Concepts Included in 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Managing application data in web applications.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Using client-side storage techniques.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 • Organizing data using programming structures.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Stored data using </a:t>
                      </a:r>
                      <a:r>
                        <a:rPr lang="en-US" sz="2000" b="0" dirty="0" err="1">
                          <a:latin typeface="Sitka Text Semibold" pitchFamily="2" charset="0"/>
                        </a:rPr>
                        <a:t>LocalStorage</a:t>
                      </a:r>
                      <a:r>
                        <a:rPr lang="en-US" sz="2000" b="0" dirty="0">
                          <a:latin typeface="Sitka Text Semibold" pitchFamily="2" charset="0"/>
                        </a:rPr>
                        <a:t> and JSON objects.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Maintained accounts of </a:t>
                      </a:r>
                      <a:r>
                        <a:rPr lang="en-US" sz="2000" b="0" dirty="0" err="1">
                          <a:latin typeface="Sitka Text Semibold" pitchFamily="2" charset="0"/>
                        </a:rPr>
                        <a:t>syudents</a:t>
                      </a:r>
                      <a:r>
                        <a:rPr lang="en-US" sz="2000" b="0" dirty="0">
                          <a:latin typeface="Sitka Text Semibold" pitchFamily="2" charset="0"/>
                        </a:rPr>
                        <a:t>, checks recover password status.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Used Stack, Queue, and Map data structures for efficient data management.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899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244" y="365125"/>
            <a:ext cx="10173182" cy="1128009"/>
          </a:xfrm>
        </p:spPr>
        <p:txBody>
          <a:bodyPr/>
          <a:lstStyle/>
          <a:p>
            <a:pPr algn="ctr"/>
            <a:r>
              <a:rPr lang="en-US" i="1" dirty="0">
                <a:latin typeface="Broadway" panose="04040905080B02020502" pitchFamily="82" charset="0"/>
              </a:rPr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800" b="1" dirty="0">
                <a:latin typeface="Edwardian Script ITC" panose="030303020407070D0804" pitchFamily="66" charset="0"/>
              </a:rPr>
              <a:t>1.  CO 1-</a:t>
            </a:r>
            <a:endParaRPr lang="en-IN" sz="2800" b="1" dirty="0">
              <a:latin typeface="Edwardian Script ITC" panose="030303020407070D0804" pitchFamily="66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784202"/>
              </p:ext>
            </p:extLst>
          </p:nvPr>
        </p:nvGraphicFramePr>
        <p:xfrm>
          <a:off x="1180618" y="2525579"/>
          <a:ext cx="10515600" cy="32308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Broadway" panose="04040905080B02020502" pitchFamily="82" charset="0"/>
                        </a:rPr>
                        <a:t>CO1 Syllabus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Broadway" panose="04040905080B02020502" pitchFamily="82" charset="0"/>
                        </a:rPr>
                        <a:t>CO1 Concepts Included in 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Algorithm analysis using Big-O notation and efficiency concepts.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Understanding searching techniques and performance comparison.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Applying problem solving strategies for algorithmic solutions.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itka Text Semibold" pitchFamily="2" charset="0"/>
                        </a:rPr>
                        <a:t>Searching techniques are used to </a:t>
                      </a:r>
                      <a:r>
                        <a:rPr lang="en-US" sz="2000" b="1" dirty="0">
                          <a:latin typeface="Sitka Text Semibold" pitchFamily="2" charset="0"/>
                        </a:rPr>
                        <a:t>find user accounts or recovery requests quickly in the database/system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itka Text Semibold" pitchFamily="2" charset="0"/>
                        </a:rPr>
                        <a:t>Algorithm efficiency concepts help in </a:t>
                      </a:r>
                      <a:r>
                        <a:rPr lang="en-US" sz="2000" b="1" dirty="0">
                          <a:latin typeface="Sitka Text Semibold" pitchFamily="2" charset="0"/>
                        </a:rPr>
                        <a:t>optimizing request processing and data retrieval speed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itka Text Semibold" pitchFamily="2" charset="0"/>
                        </a:rPr>
                        <a:t>Sorting can be used to </a:t>
                      </a:r>
                      <a:r>
                        <a:rPr lang="en-US" sz="2000" b="1" dirty="0">
                          <a:latin typeface="Sitka Text Semibold" pitchFamily="2" charset="0"/>
                        </a:rPr>
                        <a:t>organize recovery requests based on date, priority, or status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i="1" dirty="0">
                <a:latin typeface="Broadway" panose="04040905080B02020502" pitchFamily="82" charset="0"/>
              </a:rPr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800" b="1" dirty="0">
                <a:latin typeface="Edwardian Script ITC" panose="030303020407070D0804" pitchFamily="66" charset="0"/>
              </a:rPr>
              <a:t>2.   CO 2-</a:t>
            </a:r>
            <a:endParaRPr lang="en-IN" sz="2800" b="1" dirty="0">
              <a:latin typeface="Edwardian Script ITC" panose="030303020407070D0804" pitchFamily="66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2153"/>
              </p:ext>
            </p:extLst>
          </p:nvPr>
        </p:nvGraphicFramePr>
        <p:xfrm>
          <a:off x="1180618" y="2525579"/>
          <a:ext cx="10515600" cy="35356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0" i="0">
                          <a:latin typeface="Broadway" panose="04040905080B02020502" pitchFamily="82" charset="0"/>
                        </a:rPr>
                        <a:t>CO2 Syllabus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dirty="0">
                          <a:latin typeface="Broadway" panose="04040905080B02020502" pitchFamily="82" charset="0"/>
                        </a:rPr>
                        <a:t>CO2 Concepts Included in 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Design and implementation of Abstract Data Types (ADTs).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Use of arrays and linked structures for storing and managing data.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Performing operations like insert, delete, search, and traversal.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latin typeface="Sitka Text Semibold" pitchFamily="2" charset="0"/>
                        </a:rPr>
                        <a:t>Arrays and Linked List concepts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 help in managing lists such as user requests, recovered accounts, and reported issues.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itka Text Semibold" pitchFamily="2" charset="0"/>
                        </a:rPr>
                        <a:t>Operations like </a:t>
                      </a:r>
                      <a:r>
                        <a:rPr lang="en-US" sz="2000" b="1" dirty="0">
                          <a:latin typeface="Sitka Text Semibold" pitchFamily="2" charset="0"/>
                        </a:rPr>
                        <a:t>insert, delete, search, and traverse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 are used to manage recovery request records.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itka Text Semibold" pitchFamily="2" charset="0"/>
                        </a:rPr>
                        <a:t>Data structure design helps in </a:t>
                      </a:r>
                      <a:r>
                        <a:rPr lang="en-US" sz="2000" b="1" dirty="0">
                          <a:latin typeface="Sitka Text Semibold" pitchFamily="2" charset="0"/>
                        </a:rPr>
                        <a:t>efficient storage and retrieval of user information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50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i="1" dirty="0">
                <a:latin typeface="Broadway" panose="04040905080B02020502" pitchFamily="82" charset="0"/>
              </a:rPr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800" b="1" dirty="0">
                <a:latin typeface="Edwardian Script ITC" panose="030303020407070D0804" pitchFamily="66" charset="0"/>
              </a:rPr>
              <a:t>3.   CO 3-</a:t>
            </a:r>
            <a:endParaRPr lang="en-IN" sz="2800" b="1" dirty="0">
              <a:latin typeface="Edwardian Script ITC" panose="030303020407070D0804" pitchFamily="66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833660"/>
              </p:ext>
            </p:extLst>
          </p:nvPr>
        </p:nvGraphicFramePr>
        <p:xfrm>
          <a:off x="1180618" y="2525579"/>
          <a:ext cx="10515600" cy="32308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Broadway" panose="04040905080B02020502" pitchFamily="82" charset="0"/>
                        </a:rPr>
                        <a:t>CO3 Syllabus</a:t>
                      </a:r>
                      <a:endParaRPr lang="en-IN" sz="2000" dirty="0">
                        <a:latin typeface="Broadway" panose="04040905080B02020502" pitchFamily="8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Broadway" panose="04040905080B02020502" pitchFamily="82" charset="0"/>
                        </a:rPr>
                        <a:t>CO3 Concepts Included in Project</a:t>
                      </a:r>
                      <a:endParaRPr lang="en-US" sz="2000" dirty="0">
                        <a:latin typeface="Broadway" panose="04040905080B02020502" pitchFamily="8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Application of stack and queue data structures in real-world scenarios.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Understanding workflows using linear data structures.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 • Efficient processing of sequential operations.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latin typeface="Sitka Text Semibold" pitchFamily="2" charset="0"/>
                        </a:rPr>
                        <a:t>Queue data structure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 can be used to manage recovery requests in the order they are received (first come, first served).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latin typeface="Sitka Text Semibold" pitchFamily="2" charset="0"/>
                        </a:rPr>
                        <a:t>Priority queues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 help admins handle urgent recovery requests first.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itka Text Semibold" pitchFamily="2" charset="0"/>
                        </a:rPr>
                        <a:t>Stack concepts can be applied for </a:t>
                      </a:r>
                      <a:r>
                        <a:rPr lang="en-US" sz="2000" b="1" dirty="0">
                          <a:latin typeface="Sitka Text Semibold" pitchFamily="2" charset="0"/>
                        </a:rPr>
                        <a:t>session handling or undo operations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 in system workflows.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255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i="1" dirty="0">
                <a:latin typeface="Broadway" panose="04040905080B02020502" pitchFamily="82" charset="0"/>
              </a:rPr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800" b="1" dirty="0">
                <a:latin typeface="Edwardian Script ITC" panose="030303020407070D0804" pitchFamily="66" charset="0"/>
              </a:rPr>
              <a:t>4.   CO 4-</a:t>
            </a:r>
            <a:endParaRPr lang="en-IN" sz="2800" b="1" dirty="0">
              <a:latin typeface="Edwardian Script ITC" panose="030303020407070D0804" pitchFamily="66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34251"/>
              </p:ext>
            </p:extLst>
          </p:nvPr>
        </p:nvGraphicFramePr>
        <p:xfrm>
          <a:off x="1180618" y="2525579"/>
          <a:ext cx="10515600" cy="32308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Broadway" panose="04040905080B02020502" pitchFamily="82" charset="0"/>
                        </a:rPr>
                        <a:t>CO4 Syllabus</a:t>
                      </a:r>
                      <a:endParaRPr lang="en-IN" sz="2000" dirty="0">
                        <a:latin typeface="Broadway" panose="04040905080B02020502" pitchFamily="8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Broadway" panose="04040905080B02020502" pitchFamily="82" charset="0"/>
                        </a:rPr>
                        <a:t>CO4 Concepts Included in Project</a:t>
                      </a:r>
                      <a:endParaRPr lang="en-US" sz="2000" dirty="0">
                        <a:latin typeface="Broadway" panose="04040905080B02020502" pitchFamily="8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Implementation of hash-based data structures and collections.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Efficient data storage and fast lookup operations.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 • Use of maps and collections for scalable applications.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latin typeface="Sitka Text Semibold" pitchFamily="2" charset="0"/>
                        </a:rPr>
                        <a:t>Hashing techniques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 enable faster lookup of user accounts and recovery details.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itka Text Semibold" pitchFamily="2" charset="0"/>
                        </a:rPr>
                        <a:t>Java Collections like </a:t>
                      </a:r>
                      <a:r>
                        <a:rPr lang="en-US" sz="2000" b="1" dirty="0">
                          <a:latin typeface="Sitka Text Semibold" pitchFamily="2" charset="0"/>
                        </a:rPr>
                        <a:t>List, Map, and Queue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 help manage user data efficiently.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itka Text Semibold" pitchFamily="2" charset="0"/>
                        </a:rPr>
                        <a:t>These structures support </a:t>
                      </a:r>
                      <a:r>
                        <a:rPr lang="en-US" sz="2000" b="1" dirty="0">
                          <a:latin typeface="Sitka Text Semibold" pitchFamily="2" charset="0"/>
                        </a:rPr>
                        <a:t>fast search, insertion, and update operations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 in the system.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4470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i="1" dirty="0">
                <a:latin typeface="Broadway" panose="04040905080B02020502" pitchFamily="82" charset="0"/>
              </a:rPr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826" y="1825625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800" b="1" dirty="0">
                <a:latin typeface="Edwardian Script ITC" panose="030303020407070D0804" pitchFamily="66" charset="0"/>
              </a:rPr>
              <a:t>5.   CO 5-</a:t>
            </a:r>
            <a:endParaRPr lang="en-IN" sz="2800" b="1" dirty="0">
              <a:latin typeface="Edwardian Script ITC" panose="030303020407070D0804" pitchFamily="66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918976"/>
              </p:ext>
            </p:extLst>
          </p:nvPr>
        </p:nvGraphicFramePr>
        <p:xfrm>
          <a:off x="1180618" y="2525579"/>
          <a:ext cx="10515600" cy="32308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Broadway" panose="04040905080B02020502" pitchFamily="82" charset="0"/>
                        </a:rPr>
                        <a:t>CO5 Syllabus</a:t>
                      </a:r>
                      <a:endParaRPr lang="en-IN" sz="2000" dirty="0">
                        <a:latin typeface="Broadway" panose="04040905080B02020502" pitchFamily="8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Broadway" panose="04040905080B02020502" pitchFamily="82" charset="0"/>
                        </a:rPr>
                        <a:t>CO5 Concepts Included in Project</a:t>
                      </a:r>
                      <a:endParaRPr lang="en-US" sz="2000" dirty="0">
                        <a:latin typeface="Broadway" panose="04040905080B02020502" pitchFamily="8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Design and development of practical applications using linear data structures. • Applying theoretical concepts to real-world problems.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itka Text Semibold" pitchFamily="2" charset="0"/>
                        </a:rPr>
                        <a:t>The project is a </a:t>
                      </a:r>
                      <a:r>
                        <a:rPr lang="en-US" sz="2000" b="1" dirty="0">
                          <a:latin typeface="Sitka Text Semibold" pitchFamily="2" charset="0"/>
                        </a:rPr>
                        <a:t>real-world application of linear data structures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 to solve digital access recovery problems.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itka Text Semibold" pitchFamily="2" charset="0"/>
                        </a:rPr>
                        <a:t>It demonstrates how data structures help </a:t>
                      </a:r>
                      <a:r>
                        <a:rPr lang="en-US" sz="2000" b="1" dirty="0">
                          <a:latin typeface="Sitka Text Semibold" pitchFamily="2" charset="0"/>
                        </a:rPr>
                        <a:t>organize, process, and manage large numbers of user requests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itka Text Semibold" pitchFamily="2" charset="0"/>
                        </a:rPr>
                        <a:t>The system improves </a:t>
                      </a:r>
                      <a:r>
                        <a:rPr lang="en-US" sz="2000" b="1" dirty="0">
                          <a:latin typeface="Sitka Text Semibold" pitchFamily="2" charset="0"/>
                        </a:rPr>
                        <a:t>efficiency and automation in handling lost digital account recovery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95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i="1" dirty="0">
                <a:latin typeface="Broadway" panose="04040905080B02020502" pitchFamily="82" charset="0"/>
              </a:rPr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800" b="1" dirty="0">
                <a:latin typeface="Edwardian Script ITC" panose="030303020407070D0804" pitchFamily="66" charset="0"/>
              </a:rPr>
              <a:t>6.   CO 6-</a:t>
            </a:r>
            <a:endParaRPr lang="en-IN" sz="2800" b="1" dirty="0">
              <a:latin typeface="Edwardian Script ITC" panose="030303020407070D0804" pitchFamily="66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155507"/>
              </p:ext>
            </p:extLst>
          </p:nvPr>
        </p:nvGraphicFramePr>
        <p:xfrm>
          <a:off x="1180618" y="2525579"/>
          <a:ext cx="10515600" cy="32308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Broadway" panose="04040905080B02020502" pitchFamily="82" charset="0"/>
                        </a:rPr>
                        <a:t>CO6 Syllabus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Broadway" panose="04040905080B02020502" pitchFamily="82" charset="0"/>
                        </a:rPr>
                        <a:t>CO6 Concepts Included in 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Developing programming skills to design and implement DSA-based applications. </a:t>
                      </a:r>
                    </a:p>
                    <a:p>
                      <a:r>
                        <a:rPr lang="en-US" sz="2000" b="0" dirty="0">
                          <a:latin typeface="Sitka Text Semibold" pitchFamily="2" charset="0"/>
                        </a:rPr>
                        <a:t>• Building complete programs integrating multiple data structures.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itka Text Semibold" pitchFamily="2" charset="0"/>
                        </a:rPr>
                        <a:t>The project helps students </a:t>
                      </a:r>
                      <a:r>
                        <a:rPr lang="en-US" sz="2000" b="1" dirty="0">
                          <a:latin typeface="Sitka Text Semibold" pitchFamily="2" charset="0"/>
                        </a:rPr>
                        <a:t>develop programming skills using data structures concepts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itka Text Semibold" pitchFamily="2" charset="0"/>
                        </a:rPr>
                        <a:t>It demonstrates the ability to </a:t>
                      </a:r>
                      <a:r>
                        <a:rPr lang="en-US" sz="2000" b="1" dirty="0">
                          <a:latin typeface="Sitka Text Semibold" pitchFamily="2" charset="0"/>
                        </a:rPr>
                        <a:t>design and implement a practical application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 using DS knowledge.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itka Text Semibold" pitchFamily="2" charset="0"/>
                        </a:rPr>
                        <a:t>Students gain experience in </a:t>
                      </a:r>
                      <a:r>
                        <a:rPr lang="en-US" sz="2000" b="1" dirty="0">
                          <a:latin typeface="Sitka Text Semibold" pitchFamily="2" charset="0"/>
                        </a:rPr>
                        <a:t>building complete software solutions for real-world problems</a:t>
                      </a:r>
                      <a:r>
                        <a:rPr lang="en-US" sz="2000" dirty="0">
                          <a:latin typeface="Sitka Text Semibold" pitchFamily="2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133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Broadway" panose="04040905080B02020502" pitchFamily="82" charset="0"/>
              </a:rPr>
              <a:t>Screenshots for FWD &amp; DSA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2AD7687-8F5C-9D1B-86BB-60D4D31E33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857" y="1463315"/>
            <a:ext cx="5631143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D64FB6-DA67-F083-8D35-D18E841FB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43" y="1463314"/>
            <a:ext cx="4952532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83" y="398782"/>
            <a:ext cx="10173182" cy="1128009"/>
          </a:xfrm>
        </p:spPr>
        <p:txBody>
          <a:bodyPr/>
          <a:lstStyle/>
          <a:p>
            <a:pPr algn="ctr"/>
            <a:r>
              <a:rPr lang="en-US" i="1" dirty="0">
                <a:latin typeface="Broadway" panose="04040905080B02020502" pitchFamily="82" charset="0"/>
              </a:rPr>
              <a:t>Conclusion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22</a:t>
            </a:fld>
            <a:endParaRPr lang="en-US"/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1229048" y="1711456"/>
            <a:ext cx="944498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Sitka Text Semibold" pitchFamily="2" charset="0"/>
              </a:rPr>
              <a:t>The system provides a </a:t>
            </a:r>
            <a:r>
              <a:rPr lang="en-US" altLang="en-US" sz="2000" b="1" dirty="0">
                <a:latin typeface="Sitka Text Semibold" pitchFamily="2" charset="0"/>
              </a:rPr>
              <a:t>secure and efficient platform</a:t>
            </a:r>
            <a:r>
              <a:rPr lang="en-US" altLang="en-US" sz="2000" dirty="0">
                <a:latin typeface="Sitka Text Semibold" pitchFamily="2" charset="0"/>
              </a:rPr>
              <a:t> to recover lost digital accounts and credentials.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Sitka Text Semibold" pitchFamily="2" charset="0"/>
              </a:rPr>
              <a:t>It </a:t>
            </a:r>
            <a:r>
              <a:rPr lang="en-US" altLang="en-US" sz="2000" b="1" dirty="0">
                <a:latin typeface="Sitka Text Semibold" pitchFamily="2" charset="0"/>
              </a:rPr>
              <a:t>reduces manual effort for administrators</a:t>
            </a:r>
            <a:r>
              <a:rPr lang="en-US" altLang="en-US" sz="2000" dirty="0">
                <a:latin typeface="Sitka Text Semibold" pitchFamily="2" charset="0"/>
              </a:rPr>
              <a:t> by organizing recovery requests digitally.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Sitka Text Semibold" pitchFamily="2" charset="0"/>
              </a:rPr>
              <a:t>The platform ensures </a:t>
            </a:r>
            <a:r>
              <a:rPr lang="en-US" altLang="en-US" sz="2000" b="1" dirty="0">
                <a:latin typeface="Sitka Text Semibold" pitchFamily="2" charset="0"/>
              </a:rPr>
              <a:t>faster communication between users and admins</a:t>
            </a:r>
            <a:r>
              <a:rPr lang="en-US" altLang="en-US" sz="2000" dirty="0">
                <a:latin typeface="Sitka Text Semibold" pitchFamily="2" charset="0"/>
              </a:rPr>
              <a:t> during the recovery process.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Sitka Text Semibold" pitchFamily="2" charset="0"/>
              </a:rPr>
              <a:t>It improves </a:t>
            </a:r>
            <a:r>
              <a:rPr lang="en-US" altLang="en-US" sz="2000" b="1" dirty="0">
                <a:latin typeface="Sitka Text Semibold" pitchFamily="2" charset="0"/>
              </a:rPr>
              <a:t>data safety and accountability</a:t>
            </a:r>
            <a:r>
              <a:rPr lang="en-US" altLang="en-US" sz="2000" dirty="0">
                <a:latin typeface="Sitka Text Semibold" pitchFamily="2" charset="0"/>
              </a:rPr>
              <a:t> by maintaining proper records of requests and actions.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Sitka Text Semibold" pitchFamily="2" charset="0"/>
              </a:rPr>
              <a:t>The system offers a </a:t>
            </a:r>
            <a:r>
              <a:rPr lang="en-US" altLang="en-US" sz="2000" b="1" dirty="0">
                <a:latin typeface="Sitka Text Semibold" pitchFamily="2" charset="0"/>
              </a:rPr>
              <a:t>user-friendly interface</a:t>
            </a:r>
            <a:r>
              <a:rPr lang="en-US" altLang="en-US" sz="2000" dirty="0">
                <a:latin typeface="Sitka Text Semibold" pitchFamily="2" charset="0"/>
              </a:rPr>
              <a:t> for students and administrators to manage recovery tasks easily.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Sitka Text Semibold" pitchFamily="2" charset="0"/>
              </a:rPr>
              <a:t>Overall, the project helps create a </a:t>
            </a:r>
            <a:r>
              <a:rPr lang="en-US" altLang="en-US" sz="2000" b="1" dirty="0">
                <a:latin typeface="Sitka Text Semibold" pitchFamily="2" charset="0"/>
              </a:rPr>
              <a:t>reliable and organized solution</a:t>
            </a:r>
            <a:r>
              <a:rPr lang="en-US" altLang="en-US" sz="2000" dirty="0">
                <a:latin typeface="Sitka Text Semibold" pitchFamily="2" charset="0"/>
              </a:rPr>
              <a:t> for managing lost digital access in institutions</a:t>
            </a:r>
            <a:endParaRPr kumimoji="0" 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Broadway" panose="04040905080B02020502" pitchFamily="82" charset="0"/>
              </a:rPr>
              <a:t>Geo- Tag Photos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23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B607201-78DC-0DC8-28F9-B86B01DC4A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200400" y="1520381"/>
            <a:ext cx="5410200" cy="4526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10800" b="1" dirty="0">
                <a:latin typeface="Edwardian Script ITC" panose="030303020407070D0804" pitchFamily="66" charset="0"/>
              </a:rPr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3973</TotalTime>
  <Words>1785</Words>
  <Application>Microsoft Office PowerPoint</Application>
  <PresentationFormat>Widescreen</PresentationFormat>
  <Paragraphs>261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Broadway</vt:lpstr>
      <vt:lpstr>Calibri</vt:lpstr>
      <vt:lpstr>Calibri Light</vt:lpstr>
      <vt:lpstr>Edwardian Script ITC</vt:lpstr>
      <vt:lpstr>Sitka Text Semibold</vt:lpstr>
      <vt:lpstr>Office Theme</vt:lpstr>
      <vt:lpstr>Custom Design</vt:lpstr>
      <vt:lpstr>INSTRUCTIONS</vt:lpstr>
      <vt:lpstr>Title: Optimized Pharmacy Stock Management System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FWD</vt:lpstr>
      <vt:lpstr>Co’s Attainments - FWD</vt:lpstr>
      <vt:lpstr>Co’s Attainments - FWD</vt:lpstr>
      <vt:lpstr>Co’s Attainments - FWD</vt:lpstr>
      <vt:lpstr>Co’s Attainments - DSA</vt:lpstr>
      <vt:lpstr>Co’s Attainments - DSA</vt:lpstr>
      <vt:lpstr>Co’s Attainments - DSA</vt:lpstr>
      <vt:lpstr>Co’s Attainments - DSA</vt:lpstr>
      <vt:lpstr>Co’s Attainments - DSA</vt:lpstr>
      <vt:lpstr>Co’s Attainments - DSA</vt:lpstr>
      <vt:lpstr>Screenshots for FWD &amp;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Anikha P</cp:lastModifiedBy>
  <cp:revision>63</cp:revision>
  <dcterms:created xsi:type="dcterms:W3CDTF">2022-05-20T10:20:31Z</dcterms:created>
  <dcterms:modified xsi:type="dcterms:W3CDTF">2026-03-09T19:16:52Z</dcterms:modified>
</cp:coreProperties>
</file>